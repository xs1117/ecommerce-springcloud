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9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，今天汇报聚焦项目亮点。我们不是展示零散功能，而是展示一套完整能力闭环：高并发下稳定运行、AI能力可上线、交付可复制。后续每页都回答两个问题：它带来什么收益，以及它是如何落地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这一页用于补齐团队信息。答辩时建议按成员顺序简要说明每个人负责的模块，例如前端页面、订单支付、AI服务或商家端功能，控制在10到15秒内，不展开细节。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先把项目讲清楚：它不是单点功能演示，而是一套完整的电商系统。前端统一承接用户、商家和管理员入口，后端通过网关和多个微服务拆分业务，再由数据库、缓存、消息队列、配置中心和向量库共同支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流程页建议放真实界面截图，不需要再补很多文字。讲解顺序建议是：首页或登录进入系统，然后展示搜索或商品详情，再到购物车和结算页，形成完整的用户购物主链路。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这一页把业务闭环补完整：先展示订单详情或支付状态，再展示商家中心如何处理订单与发货，最后展示售后会话或AI客服抽屉。这样老师能直观看到系统不是静态页面，而是完整地串起了交易和售后流程。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这一页讲治理底座。我们通过Nacos把服务地址管理从静态配置变成动态发现，把配置更新从分散维护变成集中管理。这样在新增实例、配置调整和故障切换时，系统可控性明显提升。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性能优化分两层：先用Redis挡住高频读请求，再对MySQL做分表和索引治理。核心价值是把数据库从高并发第一承压层移开，并保证复杂查询在增长后的可持续性能。答辩可替换展示P95时延与慢SQL指标。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这页强调并发治理。我们明确区分必须即时完成和可延后处理的任务，把可异步部分交给MQ和线程池。这样高峰流量下系统不会整体阻塞，而是通过队列削峰和异步并发维持稳定吞吐。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AI能力先看入口体验。我们在浏览器端支持语音输入，把自然语言直接转为文本请求；在服务端通过Spring AI统一编排模型调用，避免每次更换模型都重写业务逻辑，保证AI能力可持续演进。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这一页的关键是能力升级：从模型回答问题升级为模型完成任务。Agent先拆解目标，再调用检索和工具完成步骤，最后汇总结果。这样AI更贴近真实业务执行场景，而不仅是聊天。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RAG是AI准确性的核心机制。我们把业务知识切分后向量化存储到Qdrant，用户提问时先做向量检索，再基于命中的上下文生成答案。答辩可以替换展示检索命中率和答案准确率指标。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文本向量无法覆盖所有场景，所以我们增加图像特征通道。dHash计算成本低、对比速度快，适合先做大规模粗筛，再与语义检索融合精排，在效果和性能之间取得平衡。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这一页讲工程交付能力。当前仓库已经把 Redis、RabbitMQ、Qdrant 等关键依赖容器化，重点价值是把联调环境准备标准化，减少不同机器上的环境偏差。答辩时可以强调它提升了演示稳定性和环境可复现性，而不是夸大为所有服务都已完整容器化上线。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这一页建议作为补充页使用。可以强调项目设计不是简单叠加技术名词，而是在性能、准确性和交付效率之间做平衡。这样的表达会让老师感受到你们是从工程约束出发在做系统设计，而不是单纯拼组件。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这一页不声称新增实现，而是告诉评委你们如何验证现有亮点是否真实有效。答辩时如果有真实数据，可以把压测截图、检索评估结果或部署耗时直接替换到这一页，对整体可信度帮助很大。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这一页作为收尾后的补充页更合适。它的作用不是承诺已经做完，而是说明项目具备自然演进路径。回答老师追问时，可以顺着“先做数据验证，再做治理能力，再往平台化升级”这条线讲，逻辑会很完整。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822960"/>
            <a:ext cx="5943600" cy="701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软件工程</a:t>
            </a:r>
            <a:r>
              <a:rPr lang="zh-CN" sz="3800" b="1">
                <a:solidFill>
                  <a:srgbClr val="FFFFFF"/>
                </a:solidFill>
                <a:latin typeface="微软雅黑" panose="020B0503020204020204" charset="-122"/>
              </a:rPr>
              <a:t>实训</a:t>
            </a:r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项目答辩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1783080"/>
            <a:ext cx="6583680" cy="328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DEE7F1"/>
                </a:solidFill>
                <a:latin typeface="微软雅黑" panose="020B0503020204020204" charset="-122"/>
              </a:rPr>
              <a:t>亮点汇报：分布式性能优化 × 多Agent AI客服</a:t>
            </a:r>
            <a:endParaRPr sz="1780" b="0">
              <a:solidFill>
                <a:srgbClr val="DEE7F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656" y="2084831"/>
            <a:ext cx="40233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>
                <a:solidFill>
                  <a:srgbClr val="DEE7F1"/>
                </a:solidFill>
                <a:latin typeface="微软雅黑" panose="020B0503020204020204" charset="-122"/>
              </a:rPr>
              <a:t>× Docker容器化交付</a:t>
            </a:r>
            <a:endParaRPr sz="1780" b="0">
              <a:solidFill>
                <a:srgbClr val="DEE7F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6656" y="2606040"/>
            <a:ext cx="1783080" cy="365760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答辩主线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64922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ECF2F7"/>
                </a:solidFill>
                <a:latin typeface="微软雅黑" panose="020B0503020204020204" charset="-122"/>
              </a:rPr>
              <a:t>不是展示零散功能，而是展示一套完整工程闭环</a:t>
            </a:r>
            <a:endParaRPr sz="2100" b="1">
              <a:solidFill>
                <a:srgbClr val="ECF2F7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3822191"/>
            <a:ext cx="585216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D6E1EC"/>
                </a:solidFill>
                <a:latin typeface="微软雅黑" panose="020B0503020204020204" charset="-122"/>
              </a:rPr>
              <a:t>高性能架构支撑并发，多Agent AI客服完成检索、推荐与售后闭环，容器化保障快速交付。</a:t>
            </a:r>
            <a:endParaRPr sz="1820" b="0">
              <a:solidFill>
                <a:srgbClr val="D6E1E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1"/>
            </p:custDataLst>
          </p:nvPr>
        </p:nvSpPr>
        <p:spPr>
          <a:xfrm>
            <a:off x="7315200" y="100584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4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2"/>
            </p:custDataLst>
          </p:nvPr>
        </p:nvSpPr>
        <p:spPr>
          <a:xfrm>
            <a:off x="7516368" y="1207008"/>
            <a:ext cx="530352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8156448" y="1115568"/>
            <a:ext cx="2926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A"/>
                </a:solidFill>
                <a:latin typeface="微软雅黑" panose="020B0503020204020204" charset="-122"/>
              </a:rPr>
              <a:t>分布式性能</a:t>
            </a:r>
            <a:endParaRPr sz="1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8156448" y="144475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Nacos治理、Redis集群、MQ解耦、MySQL优化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7315200" y="242316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4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>
            <p:custDataLst>
              <p:tags r:id="rId6"/>
            </p:custDataLst>
          </p:nvPr>
        </p:nvSpPr>
        <p:spPr>
          <a:xfrm>
            <a:off x="7516368" y="2624328"/>
            <a:ext cx="530352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8156448" y="2532888"/>
            <a:ext cx="2926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A"/>
                </a:solidFill>
                <a:latin typeface="微软雅黑" panose="020B0503020204020204" charset="-122"/>
              </a:rPr>
              <a:t>AI能力落地</a:t>
            </a:r>
            <a:endParaRPr sz="1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8156448" y="286207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Web Speech API、Spring AI、多Agent、RAG、图搜商品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7315200" y="3840480"/>
            <a:ext cx="4160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4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7516368" y="4041648"/>
            <a:ext cx="530352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8156448" y="3950208"/>
            <a:ext cx="2926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1F3A"/>
                </a:solidFill>
                <a:latin typeface="微软雅黑" panose="020B0503020204020204" charset="-122"/>
              </a:rPr>
              <a:t>Docker交付</a:t>
            </a:r>
            <a:endParaRPr sz="1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8156448" y="427939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中间件容器联调、环境一致部署、可复现实验环境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5669280"/>
            <a:ext cx="10808208" cy="548640"/>
          </a:xfrm>
          <a:prstGeom prst="roundRect">
            <a:avLst/>
          </a:prstGeom>
          <a:solidFill>
            <a:srgbClr val="1B2D4E"/>
          </a:solidFill>
          <a:ln>
            <a:solidFill>
              <a:srgbClr val="495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97296"/>
            <a:ext cx="10241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6D5E5"/>
                </a:solidFill>
                <a:latin typeface="微软雅黑" panose="020B0503020204020204" charset="-122"/>
              </a:rPr>
              <a:t>关键词：治理、缓存、异步、多Agent、RAG、图像检索、容器化</a:t>
            </a:r>
            <a:endParaRPr sz="1300" b="1">
              <a:solidFill>
                <a:srgbClr val="C6D5E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项目认知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成员介绍：4人分工与负责模块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本页核心结论：这一页保留为成员信息留白页，答辩前按真实姓名、分工和负责模块填写。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514600"/>
            <a:ext cx="475488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697480"/>
            <a:ext cx="868680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成员 01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308152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姓名：__________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536" y="3392424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分工：__________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536" y="3648456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负责模块：________________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062472" y="2514600"/>
            <a:ext cx="475488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2697480"/>
            <a:ext cx="868680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成员 02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3640" y="308152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姓名：__________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63640" y="3392424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分工：__________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3648456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负责模块：________________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416552"/>
            <a:ext cx="475488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59" y="4599432"/>
            <a:ext cx="868680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成员 03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9536" y="498348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姓名：__________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9536" y="5294376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分工：__________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6" y="555040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负责模块：________________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62472" y="4416552"/>
            <a:ext cx="4754880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7064" y="4599432"/>
            <a:ext cx="868680" cy="310896"/>
          </a:xfrm>
          <a:prstGeom prst="roundRect">
            <a:avLst/>
          </a:prstGeom>
          <a:solidFill>
            <a:srgbClr val="E4B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成员 04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63640" y="4983480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姓名：__________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263640" y="5294376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分工：__________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63640" y="5550408"/>
            <a:ext cx="4297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负责模块：________________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项目认知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项目概览：业务定位、角色与系统架构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本页核心结论：这是一个覆盖用户、商家、管理员三类角色，并打通订单、售后与AI客服闭环的电商微服务系统。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775" y="2614930"/>
            <a:ext cx="4169410" cy="1947545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2491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8AB2"/>
                </a:solidFill>
                <a:latin typeface="微软雅黑" panose="020B0503020204020204" charset="-122"/>
              </a:rPr>
              <a:t>业务定位</a:t>
            </a:r>
            <a:endParaRPr sz="150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063240"/>
            <a:ext cx="36118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项目定位：面向用户、商家、管理员的智能电商微服务系统。</a:t>
            </a:r>
            <a:br>
              <a:rPr sz="1200" b="0">
                <a:solidFill>
                  <a:srgbClr val="5D687C"/>
                </a:solidFill>
                <a:latin typeface="微软雅黑" panose="020B0503020204020204" charset="-122"/>
              </a:rPr>
            </a:br>
            <a:r>
              <a:t>核心场景：商品浏览、下单支付、商家发货、售后会话、图片搜商品、AI客服。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175" y="2487295"/>
            <a:ext cx="6565265" cy="20650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72491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角色组成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30368" y="3090672"/>
            <a:ext cx="1828800" cy="868680"/>
          </a:xfrm>
          <a:prstGeom prst="round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58383" y="3218688"/>
            <a:ext cx="713232" cy="256032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用户端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58383" y="3493008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5D687C"/>
                </a:solidFill>
                <a:latin typeface="微软雅黑" panose="020B0503020204020204" charset="-122"/>
              </a:rPr>
              <a:t>登录、搜索、下单、订单、图片搜商品、AI客服</a:t>
            </a:r>
            <a:endParaRPr sz="10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379208" y="3090672"/>
            <a:ext cx="1828800" cy="868680"/>
          </a:xfrm>
          <a:prstGeom prst="round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07224" y="3218688"/>
            <a:ext cx="713232" cy="25603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商家端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07224" y="3493008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5D687C"/>
                </a:solidFill>
                <a:latin typeface="微软雅黑" panose="020B0503020204020204" charset="-122"/>
              </a:rPr>
              <a:t>店铺管理、商品管理、发货、售后会话</a:t>
            </a:r>
            <a:endParaRPr sz="10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528048" y="3090672"/>
            <a:ext cx="1828800" cy="868680"/>
          </a:xfrm>
          <a:prstGeom prst="round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56064" y="3218688"/>
            <a:ext cx="713232" cy="25603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管理端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56064" y="3493008"/>
            <a:ext cx="15727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5D687C"/>
                </a:solidFill>
                <a:latin typeface="微软雅黑" panose="020B0503020204020204" charset="-122"/>
              </a:rPr>
              <a:t>商家审核、平台介入、运营管理</a:t>
            </a:r>
            <a:endParaRPr sz="10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892040"/>
            <a:ext cx="10863072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82" y="5022215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1F3A"/>
                </a:solidFill>
                <a:latin typeface="微软雅黑" panose="020B0503020204020204" charset="-122"/>
              </a:rPr>
              <a:t>系统架构主链</a:t>
            </a:r>
            <a:endParaRPr sz="15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35355" y="5477637"/>
            <a:ext cx="1463040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Vue3 前端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Chevron 27"/>
          <p:cNvSpPr/>
          <p:nvPr/>
        </p:nvSpPr>
        <p:spPr>
          <a:xfrm>
            <a:off x="2470023" y="5660263"/>
            <a:ext cx="347472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902204" y="5477637"/>
            <a:ext cx="1325880" cy="457200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Gateway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4311396" y="5660263"/>
            <a:ext cx="347472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7255" y="5477383"/>
            <a:ext cx="5486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1F3A"/>
                </a:solidFill>
                <a:latin typeface="微软雅黑" panose="020B0503020204020204" charset="-122"/>
              </a:rPr>
              <a:t>User / Merchant / Cart / Order / Inventory /</a:t>
            </a:r>
            <a:br>
              <a:rPr sz="1200" b="1">
                <a:solidFill>
                  <a:srgbClr val="121F3A"/>
                </a:solidFill>
                <a:latin typeface="微软雅黑" panose="020B0503020204020204" charset="-122"/>
              </a:rPr>
            </a:br>
            <a:r>
              <a:t>Payment / Chat / AI /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2850" y="5118100"/>
            <a:ext cx="1051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118AB2"/>
                </a:solidFill>
                <a:latin typeface="微软雅黑" panose="020B0503020204020204" charset="-122"/>
              </a:rPr>
              <a:t>MySQL</a:t>
            </a:r>
            <a:br>
              <a:rPr sz="1060" b="1">
                <a:solidFill>
                  <a:srgbClr val="118AB2"/>
                </a:solidFill>
                <a:latin typeface="微软雅黑" panose="020B0503020204020204" charset="-122"/>
              </a:rPr>
            </a:br>
            <a:r>
              <a:t>Redis</a:t>
            </a:r>
            <a:br/>
            <a:r>
              <a:t>RabbitMQ</a:t>
            </a:r>
            <a:br/>
            <a:r>
              <a:t>Qdrant</a:t>
            </a:r>
            <a:br/>
            <a:r>
              <a:t>Nacos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项目流程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项目流程（一）：用户主链路截图占位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本页核心结论：主流程建议按“浏览/搜索 → 下单 → 支付”讲述，每个步骤放真实页面截图即可。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487168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651760"/>
            <a:ext cx="749808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步骤 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59" y="3017520"/>
            <a:ext cx="1225296" cy="658368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200400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5D687C"/>
                </a:solidFill>
                <a:latin typeface="微软雅黑" panose="020B0503020204020204" charset="-122"/>
              </a:rPr>
              <a:t>截图留空</a:t>
            </a:r>
            <a:endParaRPr sz="114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31136" y="30540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登录页或首页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31136" y="3364992"/>
            <a:ext cx="2816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D687C"/>
                </a:solidFill>
                <a:latin typeface="微软雅黑" panose="020B0503020204020204" charset="-122"/>
              </a:rPr>
              <a:t>建议放完整截图，突出当前页面操作入口。</a:t>
            </a:r>
            <a:endParaRPr sz="10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62472" y="2487168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7064" y="2651760"/>
            <a:ext cx="749808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步骤 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27064" y="3017520"/>
            <a:ext cx="1225296" cy="658368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3200400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5D687C"/>
                </a:solidFill>
                <a:latin typeface="微软雅黑" panose="020B0503020204020204" charset="-122"/>
              </a:rPr>
              <a:t>截图留空</a:t>
            </a:r>
            <a:endParaRPr sz="114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305409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搜索结果页或商品详情页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35240" y="3364992"/>
            <a:ext cx="2816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D687C"/>
                </a:solidFill>
                <a:latin typeface="微软雅黑" panose="020B0503020204020204" charset="-122"/>
              </a:rPr>
              <a:t>建议放完整截图，突出当前页面操作入口。</a:t>
            </a:r>
            <a:endParaRPr sz="10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352544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59" y="4517136"/>
            <a:ext cx="749808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步骤 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2959" y="4882896"/>
            <a:ext cx="1225296" cy="658368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065776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5D687C"/>
                </a:solidFill>
                <a:latin typeface="微软雅黑" panose="020B0503020204020204" charset="-122"/>
              </a:rPr>
              <a:t>截图留空</a:t>
            </a:r>
            <a:endParaRPr sz="114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31136" y="49194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购物车页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5230368"/>
            <a:ext cx="2816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D687C"/>
                </a:solidFill>
                <a:latin typeface="微软雅黑" panose="020B0503020204020204" charset="-122"/>
              </a:rPr>
              <a:t>建议放完整截图，突出当前页面操作入口。</a:t>
            </a:r>
            <a:endParaRPr sz="10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62472" y="4352544"/>
            <a:ext cx="4754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27064" y="4517136"/>
            <a:ext cx="749808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步骤 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27064" y="4882896"/>
            <a:ext cx="1225296" cy="658368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27064" y="5065776"/>
            <a:ext cx="12252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5D687C"/>
                </a:solidFill>
                <a:latin typeface="微软雅黑" panose="020B0503020204020204" charset="-122"/>
              </a:rPr>
              <a:t>截图留空</a:t>
            </a:r>
            <a:endParaRPr sz="114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35240" y="49194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结算页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35240" y="5230368"/>
            <a:ext cx="281635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>
                <a:solidFill>
                  <a:srgbClr val="5D687C"/>
                </a:solidFill>
                <a:latin typeface="微软雅黑" panose="020B0503020204020204" charset="-122"/>
              </a:rPr>
              <a:t>建议放完整截图，突出当前页面操作入口。</a:t>
            </a:r>
            <a:endParaRPr sz="10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项目流程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项目流程（二）：订单履约、售后会话与 AI 客服闭环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本页核心结论：第二页流程建议按“支付后订单 → 商家处理 → 售后会话 → AI辅助”讲述，体现最新代码中的业务闭环。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578608"/>
            <a:ext cx="3154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816352"/>
            <a:ext cx="749808" cy="292608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节点 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7" y="3218688"/>
            <a:ext cx="2788920" cy="1261872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70332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D687C"/>
                </a:solidFill>
                <a:latin typeface="微软雅黑" panose="020B0503020204020204" charset="-122"/>
              </a:rPr>
              <a:t>放最新截图</a:t>
            </a:r>
            <a:endParaRPr sz="13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1247" y="464515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242D42"/>
                </a:solidFill>
                <a:latin typeface="微软雅黑" panose="020B0503020204020204" charset="-122"/>
              </a:rPr>
              <a:t>订单详情页（支付/状态/售后入口）</a:t>
            </a:r>
            <a:endParaRPr sz="128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7" y="498348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D687C"/>
                </a:solidFill>
                <a:latin typeface="微软雅黑" panose="020B0503020204020204" charset="-122"/>
              </a:rPr>
              <a:t>建议展示订单号、支付状态与售后申请入口</a:t>
            </a:r>
            <a:endParaRPr sz="107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096512" y="2578608"/>
            <a:ext cx="3154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1104" y="2816352"/>
            <a:ext cx="749808" cy="292608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节点 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79392" y="3218688"/>
            <a:ext cx="2788920" cy="1261872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370332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D687C"/>
                </a:solidFill>
                <a:latin typeface="微软雅黑" panose="020B0503020204020204" charset="-122"/>
              </a:rPr>
              <a:t>放最新截图</a:t>
            </a:r>
            <a:endParaRPr sz="13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9392" y="464515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242D42"/>
                </a:solidFill>
                <a:latin typeface="微软雅黑" panose="020B0503020204020204" charset="-122"/>
              </a:rPr>
              <a:t>商家中心订单管理/发货处理页</a:t>
            </a:r>
            <a:endParaRPr sz="128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79392" y="498348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D687C"/>
                </a:solidFill>
                <a:latin typeface="微软雅黑" panose="020B0503020204020204" charset="-122"/>
              </a:rPr>
              <a:t>建议展示商家订单列表、发货处理与售后会话入口</a:t>
            </a:r>
            <a:endParaRPr sz="107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34656" y="2578608"/>
            <a:ext cx="3154680" cy="321868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99248" y="2816352"/>
            <a:ext cx="749808" cy="292608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节点 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717536" y="3218688"/>
            <a:ext cx="2788920" cy="1261872"/>
          </a:xfrm>
          <a:prstGeom prst="roundRect">
            <a:avLst/>
          </a:prstGeom>
          <a:solidFill>
            <a:srgbClr val="E7EEF7"/>
          </a:solidFill>
          <a:ln>
            <a:solidFill>
              <a:srgbClr val="C2C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3703320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D687C"/>
                </a:solidFill>
                <a:latin typeface="微软雅黑" panose="020B0503020204020204" charset="-122"/>
              </a:rPr>
              <a:t>放最新截图</a:t>
            </a:r>
            <a:endParaRPr sz="13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17536" y="4645152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242D42"/>
                </a:solidFill>
                <a:latin typeface="微软雅黑" panose="020B0503020204020204" charset="-122"/>
              </a:rPr>
              <a:t>AI客服抽屉（图搜/推荐/确认）</a:t>
            </a:r>
            <a:endParaRPr sz="128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17536" y="4983480"/>
            <a:ext cx="26974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>
                <a:solidFill>
                  <a:srgbClr val="5D687C"/>
                </a:solidFill>
                <a:latin typeface="微软雅黑" panose="020B0503020204020204" charset="-122"/>
              </a:rPr>
              <a:t>建议展示推荐商品卡片、售后二次确认或取消按钮</a:t>
            </a:r>
            <a:endParaRPr sz="107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分布式性能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Nacos 微服务治理：让系统可发现、可配置、可演进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本页核心结论：Nacos解决服务发现与配置集中管理，是微服务拆分后保持可维护性的基础能力。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46634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706624"/>
            <a:ext cx="2286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841248" y="3172968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3127248"/>
            <a:ext cx="3721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D687C"/>
                </a:solidFill>
                <a:latin typeface="微软雅黑" panose="020B0503020204020204" charset="-122"/>
              </a:rPr>
              <a:t>新增服务实例时无需人工改地址，扩容效率更高</a:t>
            </a:r>
            <a:endParaRPr sz="13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41248" y="3886200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88720" y="3840480"/>
            <a:ext cx="3721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D687C"/>
                </a:solidFill>
                <a:latin typeface="微软雅黑" panose="020B0503020204020204" charset="-122"/>
              </a:rPr>
              <a:t>配置集中化，降低环境差异与发布风险</a:t>
            </a:r>
            <a:endParaRPr sz="13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41248" y="4599432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720" y="4553712"/>
            <a:ext cx="3721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D687C"/>
                </a:solidFill>
                <a:latin typeface="微软雅黑" panose="020B0503020204020204" charset="-122"/>
              </a:rPr>
              <a:t>故障实例可快速摘除，提升服务可用性</a:t>
            </a:r>
            <a:endParaRPr sz="13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4672" y="5532120"/>
            <a:ext cx="969264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服务发现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83664" y="5532120"/>
            <a:ext cx="969264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配置中心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962656" y="5532120"/>
            <a:ext cx="969264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动态路由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41648" y="5532120"/>
            <a:ext cx="969264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负载均衡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40680" y="2514600"/>
            <a:ext cx="6199632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7568" y="270662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733288" y="3200400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59" y="3154680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服务注册/发现：启动即注册，调用方动态获取实例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733288" y="3822191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59" y="3776472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配置中心统一下发：按 dev/test/prod 命名空间隔离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733288" y="4443984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80759" y="4398264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网关结合Nacos做动态路由与负载均衡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235440" y="2907792"/>
            <a:ext cx="19202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30" b="1">
                <a:solidFill>
                  <a:srgbClr val="FFFFFF"/>
                </a:solidFill>
                <a:latin typeface="微软雅黑" panose="020B0503020204020204" charset="-122"/>
              </a:rPr>
              <a:t>服务实例集群</a:t>
            </a:r>
            <a:endParaRPr sz="12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Down Arrow 31"/>
          <p:cNvSpPr/>
          <p:nvPr/>
        </p:nvSpPr>
        <p:spPr>
          <a:xfrm>
            <a:off x="10085832" y="3419856"/>
            <a:ext cx="219456" cy="274320"/>
          </a:xfrm>
          <a:prstGeom prst="downArrow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3584448"/>
            <a:ext cx="19202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30" b="1">
                <a:solidFill>
                  <a:srgbClr val="FFFFFF"/>
                </a:solidFill>
                <a:latin typeface="微软雅黑" panose="020B0503020204020204" charset="-122"/>
              </a:rPr>
              <a:t>Nacos 注册中心</a:t>
            </a:r>
            <a:endParaRPr sz="12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Down Arrow 33"/>
          <p:cNvSpPr/>
          <p:nvPr/>
        </p:nvSpPr>
        <p:spPr>
          <a:xfrm>
            <a:off x="10085832" y="4096511"/>
            <a:ext cx="219456" cy="274320"/>
          </a:xfrm>
          <a:prstGeom prst="downArrow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4261104"/>
            <a:ext cx="19202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30" b="1">
                <a:solidFill>
                  <a:srgbClr val="FFFFFF"/>
                </a:solidFill>
                <a:latin typeface="微软雅黑" panose="020B0503020204020204" charset="-122"/>
              </a:rPr>
              <a:t>配置中心</a:t>
            </a:r>
            <a:endParaRPr sz="12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10085832" y="4773168"/>
            <a:ext cx="219456" cy="274320"/>
          </a:xfrm>
          <a:prstGeom prst="downArrow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5440" y="4937760"/>
            <a:ext cx="19202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30" b="1">
                <a:solidFill>
                  <a:srgbClr val="FFFFFF"/>
                </a:solidFill>
                <a:latin typeface="微软雅黑" panose="020B0503020204020204" charset="-122"/>
              </a:rPr>
              <a:t>API 网关</a:t>
            </a:r>
            <a:endParaRPr sz="123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25712" y="55046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18AB2"/>
                </a:solidFill>
                <a:latin typeface="微软雅黑" panose="020B0503020204020204" charset="-122"/>
              </a:rPr>
              <a:t>注册 → 发现 → 配置下发 → 转发</a:t>
            </a:r>
            <a:endParaRPr sz="112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分布式性能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1F3A"/>
                </a:solidFill>
                <a:latin typeface="微软雅黑" panose="020B0503020204020204" charset="-122"/>
              </a:rPr>
              <a:t>Redis 集群 + MySQL 分表索引：核心链路性能双优化</a:t>
            </a:r>
            <a:endParaRPr sz="23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本页核心结论：通过缓存前置与数据库结构优化，降低核心接口时延并提升峰值稳定性。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487168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5D687C"/>
                </a:solidFill>
                <a:latin typeface="微软雅黑" panose="020B0503020204020204" charset="-122"/>
              </a:rPr>
              <a:t>P95接口时延</a:t>
            </a:r>
            <a:endParaRPr sz="12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889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76F51"/>
                </a:solidFill>
                <a:latin typeface="微软雅黑" panose="020B0503020204020204" charset="-122"/>
              </a:rPr>
              <a:t>【可替换指标位】</a:t>
            </a:r>
            <a:endParaRPr sz="1800" b="1">
              <a:solidFill>
                <a:srgbClr val="E76F51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70248" y="2487168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5D687C"/>
                </a:solidFill>
                <a:latin typeface="微软雅黑" panose="020B0503020204020204" charset="-122"/>
              </a:rPr>
              <a:t>缓存命中率</a:t>
            </a:r>
            <a:endParaRPr sz="12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34840" y="2889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574C9"/>
                </a:solidFill>
                <a:latin typeface="微软雅黑" panose="020B0503020204020204" charset="-122"/>
              </a:rPr>
              <a:t>【可替换指标位】</a:t>
            </a:r>
            <a:endParaRPr sz="18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973567" y="2487168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651760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5D687C"/>
                </a:solidFill>
                <a:latin typeface="微软雅黑" panose="020B0503020204020204" charset="-122"/>
              </a:rPr>
              <a:t>慢SQL占比</a:t>
            </a:r>
            <a:endParaRPr sz="122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38159" y="2889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8AB2"/>
                </a:solidFill>
                <a:latin typeface="微软雅黑" panose="020B0503020204020204" charset="-122"/>
              </a:rPr>
              <a:t>【可替换指标位】</a:t>
            </a:r>
            <a:endParaRPr sz="180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3657600"/>
            <a:ext cx="38404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22191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收益聚焦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233672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16152" y="4187952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热点数据命中缓存，用户响应更快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68680" y="4800600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16152" y="4754880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数据库读压下降，避免高峰雪崩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68680" y="5367528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6152" y="5321808"/>
            <a:ext cx="2898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>
                <a:solidFill>
                  <a:srgbClr val="5D687C"/>
                </a:solidFill>
                <a:latin typeface="微软雅黑" panose="020B0503020204020204" charset="-122"/>
              </a:rPr>
              <a:t>复杂查询更稳定，慢SQL占比可持续下降</a:t>
            </a:r>
            <a:endParaRPr sz="12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90288" y="3657600"/>
            <a:ext cx="70408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3822191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落地架构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28032" y="4187952"/>
            <a:ext cx="14630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用户请求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Chevron 30"/>
          <p:cNvSpPr/>
          <p:nvPr/>
        </p:nvSpPr>
        <p:spPr>
          <a:xfrm>
            <a:off x="6364224" y="433425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9672" y="4187952"/>
            <a:ext cx="14630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Redis 集群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Chevron 32"/>
          <p:cNvSpPr/>
          <p:nvPr/>
        </p:nvSpPr>
        <p:spPr>
          <a:xfrm>
            <a:off x="8055864" y="433425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11312" y="4187952"/>
            <a:ext cx="14630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MySQL 分表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Chevron 34"/>
          <p:cNvSpPr/>
          <p:nvPr/>
        </p:nvSpPr>
        <p:spPr>
          <a:xfrm>
            <a:off x="9747504" y="433425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02952" y="4187952"/>
            <a:ext cx="146304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20" b="1">
                <a:solidFill>
                  <a:srgbClr val="FFFFFF"/>
                </a:solidFill>
                <a:latin typeface="微软雅黑" panose="020B0503020204020204" charset="-122"/>
              </a:rPr>
              <a:t>索引优化</a:t>
            </a:r>
            <a:endParaRPr sz="12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773168" y="5074920"/>
            <a:ext cx="110642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Cache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989320" y="5074920"/>
            <a:ext cx="832103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TTL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31152" y="5074920"/>
            <a:ext cx="69494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空值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735824" y="5074920"/>
            <a:ext cx="96926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联合索引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814816" y="5074920"/>
            <a:ext cx="96926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覆盖索引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846320" y="5440680"/>
            <a:ext cx="6446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缓存前置承接热点读，数据库通过分表与索引治理保障复杂查询稳定性。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E4B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分布式性能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RabbitMQ + 线程池异步：削峰填谷与链路解耦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E4B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本页核心结论：将非核心任务异步化，使主链路更快返回并在高峰期保持稳定。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578608"/>
            <a:ext cx="1104595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07792"/>
            <a:ext cx="1682496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用户请求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2624328" y="3044952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52344" y="2907792"/>
            <a:ext cx="1682496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主事务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4507992" y="3044952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8" y="2907792"/>
            <a:ext cx="1682496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RabbitMQ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6391656" y="3044952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9672" y="2907792"/>
            <a:ext cx="1682496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线程池消费者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275320" y="3044952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03336" y="2907792"/>
            <a:ext cx="1682496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异步任务完成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023360" y="3401568"/>
            <a:ext cx="69494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削峰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828032" y="3401568"/>
            <a:ext cx="69494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重试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32704" y="3401568"/>
            <a:ext cx="69494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死信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37376" y="3401568"/>
            <a:ext cx="69494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幂等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242048" y="3401568"/>
            <a:ext cx="969264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监控告警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66928" y="4114800"/>
            <a:ext cx="530352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4074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68680" y="4709159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16152" y="4663440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请求响应更快，用户等待时间更短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68680" y="5111496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216152" y="5065776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流量高峰由队列缓冲，系统不被瞬时压垮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68680" y="5513831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216152" y="5468112"/>
            <a:ext cx="4315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失败任务可重试，整体可靠性更高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35040" y="4114800"/>
            <a:ext cx="557784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4407408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355080" y="4709159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02552" y="4663440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主流程同步、扩展流程异步，拆分关键路径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355080" y="5111496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02552" y="5065776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RabbitMQ实现任务解耦、重试机制与死信队列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6355080" y="5513831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02552" y="5468112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线程池配置核心参数：队列容量、拒绝策略、监控告警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" y="5577840"/>
            <a:ext cx="2377440" cy="868680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02920"/>
            <a:ext cx="1097280" cy="34747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AI能力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304288" y="502920"/>
            <a:ext cx="658368" cy="411480"/>
          </a:xfrm>
          <a:prstGeom prst="roundRect">
            <a:avLst/>
          </a:prstGeom>
          <a:solidFill>
            <a:srgbClr val="1E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AI入口能力：Web Speech API + 会话上下文接入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22402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E7EEF7"/>
                </a:solidFill>
                <a:latin typeface="微软雅黑" panose="020B0503020204020204" charset="-122"/>
              </a:rPr>
              <a:t>语音输入降低使用门槛，会话历史让 AI 能理解连续追问与确认。</a:t>
            </a:r>
            <a:endParaRPr sz="1550" b="1">
              <a:solidFill>
                <a:srgbClr val="E7EEF7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" y="470916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语音识别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554480" y="470916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多轮上下文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" y="5056632"/>
            <a:ext cx="124358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960" b="1">
                <a:solidFill>
                  <a:srgbClr val="FFFFFF"/>
                </a:solidFill>
                <a:latin typeface="微软雅黑" panose="020B0503020204020204" charset="-122"/>
              </a:rPr>
              <a:t>结构化返回</a:t>
            </a:r>
            <a:endParaRPr sz="9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1880" y="685800"/>
            <a:ext cx="7589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21F3A"/>
                </a:solidFill>
                <a:latin typeface="微软雅黑" panose="020B0503020204020204" charset="-122"/>
              </a:rPr>
              <a:t>AI入口能力：语音输入 + history 透传 + 结构化回复</a:t>
            </a:r>
            <a:endParaRPr sz="24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584448" y="1417320"/>
            <a:ext cx="772667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22191" y="1847088"/>
            <a:ext cx="150876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浏览器语音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5404104" y="199339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32120" y="1847088"/>
            <a:ext cx="150876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转文本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114031" y="199339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42048" y="1847088"/>
            <a:ext cx="150876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携带History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8823960" y="199339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1976" y="1847088"/>
            <a:ext cx="1508760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AI回复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584448" y="3127248"/>
            <a:ext cx="365760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3364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895344" y="3776472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42816" y="3730752"/>
            <a:ext cx="27157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语音转文本减少输入成本，提升商品搜索与客服交互效率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895344" y="4389120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42816" y="4343400"/>
            <a:ext cx="27157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前后端透传最近 8 轮会话，连续追问不易丢上下文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3895344" y="5001768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42816" y="4956048"/>
            <a:ext cx="27157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5D687C"/>
                </a:solidFill>
                <a:latin typeface="微软雅黑" panose="020B0503020204020204" charset="-122"/>
              </a:rPr>
              <a:t>统一返回 reply、thinking、recommendProducts，前端可直接渲染</a:t>
            </a:r>
            <a:endParaRPr sz="126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79792" y="3127248"/>
            <a:ext cx="3840480" cy="239572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336499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790688" y="3776472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38160" y="3730752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前端使用 Web Speech API 做语音输入，直接回填搜索或提问内容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7790688" y="4389120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38160" y="4343400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sendAiMessage 附带 history、orderNo、imageUrl，后端统一组装上下文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790688" y="5001768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38160" y="4956048"/>
            <a:ext cx="28529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AiChatResult 统一返回回答、思考摘要、推荐商品和确认状态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AI能力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多 Agent 路由：售后、图搜与通用问答分流执行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本页核心结论：AI 客服不再走单一 Prompt，而是基于上下文路由到专属 Agent 执行。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578608"/>
            <a:ext cx="11045952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2688" y="2907792"/>
            <a:ext cx="2011680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60" b="1">
                <a:solidFill>
                  <a:srgbClr val="FFFFFF"/>
                </a:solidFill>
                <a:latin typeface="微软雅黑" panose="020B0503020204020204" charset="-122"/>
              </a:rPr>
              <a:t>会话上下文</a:t>
            </a:r>
            <a:endParaRPr sz="12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3017520" y="304495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73552" y="2907792"/>
            <a:ext cx="2011680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60" b="1">
                <a:solidFill>
                  <a:srgbClr val="FFFFFF"/>
                </a:solidFill>
                <a:latin typeface="微软雅黑" panose="020B0503020204020204" charset="-122"/>
              </a:rPr>
              <a:t>AgentRouter</a:t>
            </a:r>
            <a:endParaRPr sz="12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358384" y="304495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14416" y="2907792"/>
            <a:ext cx="2011680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60" b="1">
                <a:solidFill>
                  <a:srgbClr val="FFFFFF"/>
                </a:solidFill>
                <a:latin typeface="微软雅黑" panose="020B0503020204020204" charset="-122"/>
              </a:rPr>
              <a:t>专属Agent</a:t>
            </a:r>
            <a:endParaRPr sz="12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7699248" y="304495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79" y="2907792"/>
            <a:ext cx="2011680" cy="45720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60" b="1">
                <a:solidFill>
                  <a:srgbClr val="FFFFFF"/>
                </a:solidFill>
                <a:latin typeface="微软雅黑" panose="020B0503020204020204" charset="-122"/>
              </a:rPr>
              <a:t>结构化回复</a:t>
            </a:r>
            <a:endParaRPr sz="126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98848" y="3383280"/>
            <a:ext cx="1828800" cy="292608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从单轮问答走向业务分流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6928" y="4114800"/>
            <a:ext cx="530352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165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709159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16152" y="4663440"/>
            <a:ext cx="42702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售后、图搜、通用问答各走专属处理链，回答更稳定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68680" y="5111496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16152" y="5065776"/>
            <a:ext cx="42702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确认令牌、推荐商品、思考摘要可按场景返回，交互更完整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68680" y="5513831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16152" y="5468112"/>
            <a:ext cx="42702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>
                <a:solidFill>
                  <a:srgbClr val="5D687C"/>
                </a:solidFill>
                <a:latin typeface="微软雅黑" panose="020B0503020204020204" charset="-122"/>
              </a:rPr>
              <a:t>路由逻辑显式编码，方便排查和后续扩展新 Agent</a:t>
            </a:r>
            <a:endParaRPr sz="123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0" y="4114800"/>
            <a:ext cx="5577840" cy="1810512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4416552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355080" y="4709159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02552" y="4663440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先组装 ConversationContext，统一携带文本、图片、订单号和 history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355080" y="5111496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2552" y="5065776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AgentRouter 按优先级分流到售后、图搜、通用问答三类 Agent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355080" y="5513831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2552" y="5468112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统一输出 AiChatResult，前端据此渲染确认、推荐和思考过程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960120" cy="329184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AI能力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18520" y="438912"/>
            <a:ext cx="658368" cy="411480"/>
          </a:xfrm>
          <a:prstGeom prst="roundRect">
            <a:avLst/>
          </a:prstGeom>
          <a:solidFill>
            <a:srgbClr val="1D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868680"/>
            <a:ext cx="95097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 panose="020B0503020204020204" charset="-122"/>
              </a:rPr>
              <a:t>RAG知识库：Qdrant 检索 + 订单上下文联合增强</a:t>
            </a:r>
            <a:endParaRPr sz="2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1A2B49"/>
          </a:solidFill>
          <a:ln>
            <a:solidFill>
              <a:srgbClr val="52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本页核心结论：回答不只依赖大模型，而是同时参考知识库、订单信息和历史对话。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670048"/>
            <a:ext cx="1508760" cy="1417320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256D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4187952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D0DEED"/>
                </a:solidFill>
                <a:latin typeface="微软雅黑" panose="020B0503020204020204" charset="-122"/>
              </a:rPr>
              <a:t>Embedding向量维度</a:t>
            </a:r>
            <a:endParaRPr sz="1160" b="1">
              <a:solidFill>
                <a:srgbClr val="D0DEED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77240" y="4663440"/>
            <a:ext cx="1508760" cy="658368"/>
          </a:xfrm>
          <a:prstGeom prst="roundRect">
            <a:avLst/>
          </a:prstGeom>
          <a:solidFill>
            <a:srgbClr val="233A5E"/>
          </a:solidFill>
          <a:ln>
            <a:solidFill>
              <a:srgbClr val="547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1">
                <a:solidFill>
                  <a:srgbClr val="D4E5EF"/>
                </a:solidFill>
                <a:latin typeface="微软雅黑" panose="020B0503020204020204" charset="-122"/>
              </a:rPr>
              <a:t>TopK 检索</a:t>
            </a:r>
            <a:endParaRPr sz="1600" b="1">
              <a:solidFill>
                <a:srgbClr val="D4E5E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560320" y="2670048"/>
            <a:ext cx="882396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68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90779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8AB2"/>
                </a:solidFill>
                <a:latin typeface="微软雅黑" panose="020B0503020204020204" charset="-122"/>
              </a:rPr>
              <a:t>RAG + 订单上下文</a:t>
            </a:r>
            <a:endParaRPr sz="150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34640" y="3401568"/>
            <a:ext cx="1426464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文档清洗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4334256" y="354787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3401568"/>
            <a:ext cx="1426464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Embedding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5925312" y="354787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16752" y="3401568"/>
            <a:ext cx="1426464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Qdrant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7516368" y="354787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07808" y="3401568"/>
            <a:ext cx="1426464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TopK召回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9107424" y="3547872"/>
            <a:ext cx="310896" cy="201168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98864" y="3401568"/>
            <a:ext cx="1426464" cy="475488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回答生成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58768" y="4297680"/>
            <a:ext cx="151790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知识更新不用微调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0" y="4297680"/>
            <a:ext cx="832103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订单信息补全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28231" y="429768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降低幻觉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560320" y="5486400"/>
            <a:ext cx="4206240" cy="713232"/>
          </a:xfrm>
          <a:prstGeom prst="roundRect">
            <a:avLst/>
          </a:prstGeom>
          <a:solidFill>
            <a:srgbClr val="1B2D4E"/>
          </a:solidFill>
          <a:ln>
            <a:solidFill>
              <a:srgbClr val="4E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8064" y="56509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收益聚焦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67328" y="561441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DCE6EF"/>
                </a:solidFill>
                <a:latin typeface="微软雅黑" panose="020B0503020204020204" charset="-122"/>
              </a:rPr>
              <a:t>知识有依据、订单有上下文、回答可追溯</a:t>
            </a:r>
            <a:endParaRPr sz="1180" b="0">
              <a:solidFill>
                <a:srgbClr val="DCE6EF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931152" y="5486400"/>
            <a:ext cx="4453128" cy="713232"/>
          </a:xfrm>
          <a:prstGeom prst="roundRect">
            <a:avLst/>
          </a:prstGeom>
          <a:solidFill>
            <a:srgbClr val="1B2D4E"/>
          </a:solidFill>
          <a:ln>
            <a:solidFill>
              <a:srgbClr val="4E6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78040" y="565099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技术落地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19872" y="5614416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DCE6EF"/>
                </a:solidFill>
                <a:latin typeface="微软雅黑" panose="020B0503020204020204" charset="-122"/>
              </a:rPr>
              <a:t>知识分块入库、向量召回，并把订单详情和历史对话一起注入提示词</a:t>
            </a:r>
            <a:endParaRPr sz="1180" b="0">
              <a:solidFill>
                <a:srgbClr val="DCE6E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E4B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AI能力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图片搜商品：dHash 索引 + 视觉识别双路召回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E4B9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本页核心结论：先比对平台商品图，未命中再走视觉识别与关键词检索，搜索链路更稳。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614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76F51"/>
                </a:solidFill>
                <a:latin typeface="微软雅黑" panose="020B0503020204020204" charset="-122"/>
              </a:rPr>
              <a:t>用户上传图片</a:t>
            </a:r>
            <a:endParaRPr sz="1500" b="1">
              <a:solidFill>
                <a:srgbClr val="E76F51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77824" y="3127248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61872" y="3127248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19" y="3127248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29967" y="3127248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3511296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61872" y="3511296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19" y="3511296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29967" y="3511296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3895344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261872" y="3895344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19" y="3895344"/>
            <a:ext cx="274320" cy="274320"/>
          </a:xfrm>
          <a:prstGeom prst="rect">
            <a:avLst/>
          </a:prstGeom>
          <a:solidFill>
            <a:srgbClr val="F4ECE0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29967" y="3895344"/>
            <a:ext cx="274320" cy="274320"/>
          </a:xfrm>
          <a:prstGeom prst="rect">
            <a:avLst/>
          </a:prstGeom>
          <a:solidFill>
            <a:srgbClr val="E7EEF7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36168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D687C"/>
                </a:solidFill>
                <a:latin typeface="微软雅黑" panose="020B0503020204020204" charset="-122"/>
              </a:rPr>
              <a:t>dHash 粗筛</a:t>
            </a:r>
            <a:endParaRPr sz="115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3182112" y="3364992"/>
            <a:ext cx="402336" cy="219456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730752" y="2560320"/>
            <a:ext cx="3794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6784" y="27614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64位图像索引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041648" y="3246120"/>
            <a:ext cx="768096" cy="438912"/>
          </a:xfrm>
          <a:prstGeom prst="roundRect">
            <a:avLst/>
          </a:prstGeom>
          <a:solidFill>
            <a:srgbClr val="E8F1FC"/>
          </a:solidFill>
          <a:ln>
            <a:solidFill>
              <a:srgbClr val="BD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50" b="1">
                <a:solidFill>
                  <a:srgbClr val="121F3A"/>
                </a:solidFill>
                <a:latin typeface="微软雅黑" panose="020B0503020204020204" charset="-122"/>
              </a:rPr>
              <a:t>10100110</a:t>
            </a:r>
            <a:endParaRPr sz="105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3246120"/>
            <a:ext cx="768096" cy="438912"/>
          </a:xfrm>
          <a:prstGeom prst="roundRect">
            <a:avLst/>
          </a:prstGeom>
          <a:solidFill>
            <a:srgbClr val="E8F1FC"/>
          </a:solidFill>
          <a:ln>
            <a:solidFill>
              <a:srgbClr val="BD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50" b="1">
                <a:solidFill>
                  <a:srgbClr val="121F3A"/>
                </a:solidFill>
                <a:latin typeface="微软雅黑" panose="020B0503020204020204" charset="-122"/>
              </a:rPr>
              <a:t>01110100</a:t>
            </a:r>
            <a:endParaRPr sz="105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24144" y="3246120"/>
            <a:ext cx="768096" cy="438912"/>
          </a:xfrm>
          <a:prstGeom prst="roundRect">
            <a:avLst/>
          </a:prstGeom>
          <a:solidFill>
            <a:srgbClr val="E8F1FC"/>
          </a:solidFill>
          <a:ln>
            <a:solidFill>
              <a:srgbClr val="BD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50" b="1">
                <a:solidFill>
                  <a:srgbClr val="121F3A"/>
                </a:solidFill>
                <a:latin typeface="微软雅黑" panose="020B0503020204020204" charset="-122"/>
              </a:rPr>
              <a:t>11100010</a:t>
            </a:r>
            <a:endParaRPr sz="105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65392" y="3246120"/>
            <a:ext cx="768096" cy="438912"/>
          </a:xfrm>
          <a:prstGeom prst="roundRect">
            <a:avLst/>
          </a:prstGeom>
          <a:solidFill>
            <a:srgbClr val="E8F1FC"/>
          </a:solidFill>
          <a:ln>
            <a:solidFill>
              <a:srgbClr val="BD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050" b="1">
                <a:solidFill>
                  <a:srgbClr val="121F3A"/>
                </a:solidFill>
                <a:latin typeface="微软雅黑" panose="020B0503020204020204" charset="-122"/>
              </a:rPr>
              <a:t>01011101</a:t>
            </a:r>
            <a:endParaRPr sz="105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05072" y="39319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D687C"/>
                </a:solidFill>
                <a:latin typeface="微软雅黑" panose="020B0503020204020204" charset="-122"/>
              </a:rPr>
              <a:t>Qdrant 相似度粗筛</a:t>
            </a:r>
            <a:endParaRPr sz="1200" b="1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7726679" y="3364992"/>
            <a:ext cx="402336" cy="219456"/>
          </a:xfrm>
          <a:prstGeom prst="chevron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47888" y="2560320"/>
            <a:ext cx="336499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7614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视觉识别兜底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540496" y="3218688"/>
            <a:ext cx="1143000" cy="438912"/>
          </a:xfrm>
          <a:prstGeom prst="roundRect">
            <a:avLst/>
          </a:prstGeom>
          <a:solidFill>
            <a:srgbClr val="E4F7F0"/>
          </a:solidFill>
          <a:ln>
            <a:solidFill>
              <a:srgbClr val="A6D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242D42"/>
                </a:solidFill>
                <a:latin typeface="微软雅黑" panose="020B0503020204020204" charset="-122"/>
              </a:rPr>
              <a:t>图片索引召回</a:t>
            </a:r>
            <a:endParaRPr sz="115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838944" y="3218688"/>
            <a:ext cx="1143000" cy="438912"/>
          </a:xfrm>
          <a:prstGeom prst="roundRect">
            <a:avLst/>
          </a:prstGeom>
          <a:solidFill>
            <a:srgbClr val="E8F1FC"/>
          </a:solidFill>
          <a:ln>
            <a:solidFill>
              <a:srgbClr val="BDC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150" b="1">
                <a:solidFill>
                  <a:srgbClr val="242D42"/>
                </a:solidFill>
                <a:latin typeface="微软雅黑" panose="020B0503020204020204" charset="-122"/>
              </a:rPr>
              <a:t>关键词检索</a:t>
            </a:r>
            <a:endParaRPr sz="115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22208" y="388620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D687C"/>
                </a:solidFill>
                <a:latin typeface="微软雅黑" panose="020B0503020204020204" charset="-122"/>
              </a:rPr>
              <a:t>返回推荐商品卡片与相似度</a:t>
            </a:r>
            <a:endParaRPr sz="118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517550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9536" y="5486400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用户可直接拍图找同款，减少手工输入，适合商品搜索与近似匹配。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63640" y="4956048"/>
            <a:ext cx="53492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517550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65392" y="5486400"/>
            <a:ext cx="4663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优先 dHash 索引比对，未命中再走视觉识别与商品关键词检索。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工程交付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Docker 容器化：中间件联调与环境一致性保障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本页核心结论：容器化重点解决联调环境准备与中间件部署一致性问题，提升演示和交付可靠性。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560320"/>
            <a:ext cx="11045952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2944368"/>
            <a:ext cx="2240280" cy="493776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镜像准备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3209544" y="309981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2424" y="2944368"/>
            <a:ext cx="2240280" cy="493776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Docker Compose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705856" y="309981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2944368"/>
            <a:ext cx="2240280" cy="493776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Nacos / Redis / MQ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8202168" y="3099816"/>
            <a:ext cx="310896" cy="201168"/>
          </a:xfrm>
          <a:prstGeom prst="chevron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5048" y="2944368"/>
            <a:ext cx="2240280" cy="493776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240" b="1">
                <a:solidFill>
                  <a:srgbClr val="FFFFFF"/>
                </a:solidFill>
                <a:latin typeface="微软雅黑" panose="020B0503020204020204" charset="-122"/>
              </a:rPr>
              <a:t>联调环境</a:t>
            </a:r>
            <a:endParaRPr sz="12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840480" y="3566160"/>
            <a:ext cx="832103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版本化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782312" y="356616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持久化卷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861304" y="356616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健康检查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940296" y="3566160"/>
            <a:ext cx="969264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20" b="1">
                <a:solidFill>
                  <a:srgbClr val="FFFFFF"/>
                </a:solidFill>
                <a:latin typeface="微软雅黑" panose="020B0503020204020204" charset="-122"/>
              </a:rPr>
              <a:t>自动重启</a:t>
            </a:r>
            <a:endParaRPr sz="10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4224528"/>
            <a:ext cx="530352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807" y="4356735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好处（业务/性能收益）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868680" y="4764024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16152" y="471830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中间件与联调步骤更标准化，环境准备效率更高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68680" y="5166360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16152" y="512064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环境差异导致的问题显著减少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868680" y="5568696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216152" y="5522976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5D687C"/>
                </a:solidFill>
                <a:latin typeface="微软雅黑" panose="020B0503020204020204" charset="-122"/>
              </a:rPr>
              <a:t>便于快速复现实验环境与演示环境</a:t>
            </a:r>
            <a:endParaRPr sz="122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035040" y="4224528"/>
            <a:ext cx="5577840" cy="175564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4953" y="4370705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574C9"/>
                </a:solidFill>
                <a:latin typeface="微软雅黑" panose="020B0503020204020204" charset="-122"/>
              </a:rPr>
              <a:t>实现方式（技术落地）</a:t>
            </a:r>
            <a:endParaRPr sz="1500" b="1">
              <a:solidFill>
                <a:srgbClr val="3574C9"/>
              </a:solidFill>
              <a:latin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355080" y="4764024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02552" y="4718304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仓库内已提供 Redis、RabbitMQ、Qdrant 等中间件的 Docker Compose 配置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355080" y="5166360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02552" y="5184775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通过容器化把依赖环境标准化，减少本地联调差异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355080" y="5568696"/>
            <a:ext cx="256032" cy="256032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2552" y="5522976"/>
            <a:ext cx="45445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结合网络隔离、持久化卷与健康检查提升可复现性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答辩补充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r>
              <a:rPr lang="en-US" sz="13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lang="en-US"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项目难点与关键取舍：如何同时兼顾性能、准确性与交付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本页核心结论：本项目真正的难点不是单点技术，而是三类目标之间的平衡与取舍。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" y="2834640"/>
            <a:ext cx="960120" cy="310896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性能压力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4671" y="3273552"/>
            <a:ext cx="30358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高并发下既要快响应，也要避免数据库成为瓶颈。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1" y="4133087"/>
            <a:ext cx="3035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取舍策略：用缓存、异步和微服务治理拆掉核心压力点。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43400" y="260604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07992" y="2834640"/>
            <a:ext cx="960120" cy="310896"/>
          </a:xfrm>
          <a:prstGeom prst="roundRect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AI准确性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07992" y="3273552"/>
            <a:ext cx="30358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模型要有智能交互能力，但不能把售后动作交给单一大模型自由发挥。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07992" y="4133087"/>
            <a:ext cx="3035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取舍策略：用 AgentRouter 分流任务，再结合 RAG、订单上下文和二次确认控风险。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46720" y="260604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11312" y="2834640"/>
            <a:ext cx="960120" cy="310896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040" b="1">
                <a:solidFill>
                  <a:srgbClr val="FFFFFF"/>
                </a:solidFill>
                <a:latin typeface="微软雅黑" panose="020B0503020204020204" charset="-122"/>
              </a:rPr>
              <a:t>交付复杂度</a:t>
            </a:r>
            <a:endParaRPr sz="104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1312" y="3273552"/>
            <a:ext cx="3035808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2D42"/>
                </a:solidFill>
                <a:latin typeface="微软雅黑" panose="020B0503020204020204" charset="-122"/>
              </a:rPr>
              <a:t>中间件多、服务多，AI还依赖 Qdrant 与图片索引，联调和演示更复杂。</a:t>
            </a:r>
            <a:endParaRPr sz="13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11312" y="4133087"/>
            <a:ext cx="3035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10" b="0">
                <a:solidFill>
                  <a:srgbClr val="5D687C"/>
                </a:solidFill>
                <a:latin typeface="微软雅黑" panose="020B0503020204020204" charset="-122"/>
              </a:rPr>
              <a:t>取舍策略：通过 Docker Compose 与统一配置把依赖环境标准化，减少联调偏差。</a:t>
            </a:r>
            <a:endParaRPr sz="121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" y="5623560"/>
            <a:ext cx="10972800" cy="566928"/>
          </a:xfrm>
          <a:prstGeom prst="roundRect">
            <a:avLst/>
          </a:prstGeom>
          <a:solidFill>
            <a:srgbClr val="E7F4F8"/>
          </a:solidFill>
          <a:ln>
            <a:solidFill>
              <a:srgbClr val="B5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60720"/>
            <a:ext cx="10424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118AB2"/>
                </a:solidFill>
                <a:latin typeface="微软雅黑" panose="020B0503020204020204" charset="-122"/>
              </a:rPr>
              <a:t>答辩话术建议：项目价值不在技术堆砌，而在于围绕真实约束做出工程化取舍。</a:t>
            </a:r>
            <a:endParaRPr sz="128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1325880" cy="347472"/>
          </a:xfrm>
          <a:prstGeom prst="roundRect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答辩补充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4240" y="502920"/>
            <a:ext cx="658368" cy="411480"/>
          </a:xfrm>
          <a:prstGeom prst="round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r>
              <a:rPr lang="en-US" sz="130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lang="en-US"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149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1F3A"/>
                </a:solidFill>
                <a:latin typeface="微软雅黑" panose="020B0503020204020204" charset="-122"/>
              </a:rPr>
              <a:t>效果验证与指标体系：用数据证明系统价值</a:t>
            </a:r>
            <a:endParaRPr sz="2600" b="1">
              <a:solidFill>
                <a:srgbClr val="121F3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3574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42D42"/>
                </a:solidFill>
                <a:latin typeface="微软雅黑" panose="020B0503020204020204" charset="-122"/>
              </a:rPr>
              <a:t>本页核心结论：亮点是否成立，最终要通过可量化的验证方式来证明。</a:t>
            </a:r>
            <a:endParaRPr sz="1600" b="1">
              <a:solidFill>
                <a:srgbClr val="242D42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" y="2578608"/>
            <a:ext cx="34747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7889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A27A"/>
                </a:solidFill>
                <a:latin typeface="微软雅黑" panose="020B0503020204020204" charset="-122"/>
              </a:rPr>
              <a:t>性能验证</a:t>
            </a:r>
            <a:endParaRPr sz="1500" b="1">
              <a:solidFill>
                <a:srgbClr val="1FA27A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32688" y="3200400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并发压测：TPS、P95、错误率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32688" y="3858768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8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缓存验证：命中率、数据库回源比例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2688" y="4517136"/>
            <a:ext cx="256032" cy="256032"/>
          </a:xfrm>
          <a:prstGeom prst="ellipse">
            <a:avLst/>
          </a:prstGeom>
          <a:solidFill>
            <a:srgbClr val="1FA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80160" y="4471416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异步验证：队列堆积、重试成功率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61688" y="2578608"/>
            <a:ext cx="34747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7889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8AB2"/>
                </a:solidFill>
                <a:latin typeface="微软雅黑" panose="020B0503020204020204" charset="-122"/>
              </a:rPr>
              <a:t>AI效果验证</a:t>
            </a:r>
            <a:endParaRPr sz="150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672584" y="3200400"/>
            <a:ext cx="256032" cy="256032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0056" y="3154680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路由效果：售后/图搜/通用问答分流准确率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672584" y="3858768"/>
            <a:ext cx="256032" cy="256032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0056" y="3813048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问答质量：RAG命中率、可溯源率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4672584" y="4517136"/>
            <a:ext cx="256032" cy="256032"/>
          </a:xfrm>
          <a:prstGeom prst="ellipse">
            <a:avLst/>
          </a:prstGeom>
          <a:solidFill>
            <a:srgbClr val="118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0056" y="4471416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图像检索：相似商品匹配成功率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101583" y="2578608"/>
            <a:ext cx="347472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278892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76F51"/>
                </a:solidFill>
                <a:latin typeface="微软雅黑" panose="020B0503020204020204" charset="-122"/>
              </a:rPr>
              <a:t>交付验证</a:t>
            </a:r>
            <a:endParaRPr sz="1500" b="1">
              <a:solidFill>
                <a:srgbClr val="E76F51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8412480" y="3200400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59952" y="3154680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部署效率：启动时长、发布时长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12480" y="3858768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59952" y="3813048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环境一致性：预发/生产差异项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412480" y="4517136"/>
            <a:ext cx="256032" cy="256032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59952" y="4471416"/>
            <a:ext cx="2532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5D687C"/>
                </a:solidFill>
                <a:latin typeface="微软雅黑" panose="020B0503020204020204" charset="-122"/>
              </a:rPr>
              <a:t>回滚能力：失败恢复时间</a:t>
            </a:r>
            <a:endParaRPr sz="124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21792" y="5650992"/>
            <a:ext cx="10972800" cy="530352"/>
          </a:xfrm>
          <a:prstGeom prst="roundRect">
            <a:avLst/>
          </a:prstGeom>
          <a:solidFill>
            <a:srgbClr val="FDF2EA"/>
          </a:solidFill>
          <a:ln>
            <a:solidFill>
              <a:srgbClr val="F2C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769864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76F51"/>
                </a:solidFill>
                <a:latin typeface="微软雅黑" panose="020B0503020204020204" charset="-122"/>
              </a:rPr>
              <a:t>使用建议：优先替换压测数据、AI命中结果和部署截图，这一页最能提升说服力。</a:t>
            </a:r>
            <a:endParaRPr sz="1250" b="1">
              <a:solidFill>
                <a:srgbClr val="E76F5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438912"/>
            <a:ext cx="960120" cy="329184"/>
          </a:xfrm>
          <a:prstGeom prst="round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答辩补充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018520" y="438912"/>
            <a:ext cx="658368" cy="411480"/>
          </a:xfrm>
          <a:prstGeom prst="roundRect">
            <a:avLst/>
          </a:prstGeom>
          <a:solidFill>
            <a:srgbClr val="1D3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r>
              <a:rPr lang="en-US" sz="130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lang="en-US"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868680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后续演进路线：从单点功能走向 AI 客服平台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11091672" cy="749808"/>
          </a:xfrm>
          <a:prstGeom prst="roundRect">
            <a:avLst/>
          </a:prstGeom>
          <a:solidFill>
            <a:srgbClr val="1A2B49"/>
          </a:solidFill>
          <a:ln>
            <a:solidFill>
              <a:srgbClr val="526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1719072"/>
            <a:ext cx="246888" cy="246888"/>
          </a:xfrm>
          <a:prstGeom prst="ellipse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645920"/>
            <a:ext cx="10195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本页核心结论：当前代码已经跑通 AI 客服闭环，后续重点是验证、治理与平台化扩展。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05840" y="2788920"/>
            <a:ext cx="2834640" cy="713232"/>
          </a:xfrm>
          <a:prstGeom prst="roundRect">
            <a:avLst/>
          </a:prstGeom>
          <a:solidFill>
            <a:srgbClr val="1B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阶段一</a:t>
            </a:r>
            <a:br>
              <a:rPr sz="15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完善验证</a:t>
            </a:r>
          </a:p>
        </p:txBody>
      </p:sp>
      <p:sp>
        <p:nvSpPr>
          <p:cNvPr id="13" name="Chevron 12"/>
          <p:cNvSpPr/>
          <p:nvPr/>
        </p:nvSpPr>
        <p:spPr>
          <a:xfrm>
            <a:off x="3913632" y="3054096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788920"/>
            <a:ext cx="2834640" cy="713232"/>
          </a:xfrm>
          <a:prstGeom prst="roundRect">
            <a:avLst/>
          </a:prstGeom>
          <a:solidFill>
            <a:srgbClr val="1B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阶段二</a:t>
            </a:r>
            <a:br>
              <a:rPr sz="15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增强治理</a:t>
            </a:r>
          </a:p>
        </p:txBody>
      </p:sp>
      <p:sp>
        <p:nvSpPr>
          <p:cNvPr id="15" name="Chevron 14"/>
          <p:cNvSpPr/>
          <p:nvPr/>
        </p:nvSpPr>
        <p:spPr>
          <a:xfrm>
            <a:off x="7159752" y="3054096"/>
            <a:ext cx="310896" cy="201168"/>
          </a:xfrm>
          <a:prstGeom prst="chevron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0" y="2788920"/>
            <a:ext cx="2834640" cy="713232"/>
          </a:xfrm>
          <a:prstGeom prst="roundRect">
            <a:avLst/>
          </a:prstGeom>
          <a:solidFill>
            <a:srgbClr val="1B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阶段三</a:t>
            </a:r>
            <a:br>
              <a:rPr sz="15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平台演进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4005072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68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245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76F51"/>
                </a:solidFill>
                <a:latin typeface="微软雅黑" panose="020B0503020204020204" charset="-122"/>
              </a:rPr>
              <a:t>阶段一：完善验证</a:t>
            </a:r>
            <a:endParaRPr sz="1500" b="1">
              <a:solidFill>
                <a:srgbClr val="E76F5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42415" y="4590288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补齐压测、路由命中率、图片检索效果等数据，形成可复用的验收证据链。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462272" y="4005072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68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42245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8AB2"/>
                </a:solidFill>
                <a:latin typeface="微软雅黑" panose="020B0503020204020204" charset="-122"/>
              </a:rPr>
              <a:t>阶段二：增强治理</a:t>
            </a:r>
            <a:endParaRPr sz="1500" b="1">
              <a:solidFill>
                <a:srgbClr val="118AB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0016" y="4590288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继续强化日志、监控、链路追踪和告警，让 Agent、队列与 Qdrant 都可观测。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119872" y="4005072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687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2245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4B96D"/>
                </a:solidFill>
                <a:latin typeface="微软雅黑" panose="020B0503020204020204" charset="-122"/>
              </a:rPr>
              <a:t>阶段三：平台演进</a:t>
            </a:r>
            <a:endParaRPr sz="1500" b="1">
              <a:solidFill>
                <a:srgbClr val="E4B96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7616" y="4590288"/>
            <a:ext cx="274320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D687C"/>
                </a:solidFill>
                <a:latin typeface="微软雅黑" panose="020B0503020204020204" charset="-122"/>
              </a:rPr>
              <a:t>在现有 Agent 基础上扩展更多业务工具、自动知识更新和多模型接入能力。</a:t>
            </a:r>
            <a:endParaRPr sz="1200" b="0">
              <a:solidFill>
                <a:srgbClr val="5D687C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5897880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>
                <a:solidFill>
                  <a:srgbClr val="D4E0ED"/>
                </a:solidFill>
                <a:latin typeface="微软雅黑" panose="020B0503020204020204" charset="-122"/>
              </a:rPr>
              <a:t>这一页建议作为老师追问“下一步怎么做”时的扩展回答。</a:t>
            </a:r>
            <a:endParaRPr sz="1280" b="1">
              <a:solidFill>
                <a:srgbClr val="D4E0E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2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3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4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5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6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7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8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9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10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11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ags/tag12.xml><?xml version="1.0" encoding="utf-8"?>
<p:tagLst xmlns:p="http://schemas.openxmlformats.org/presentationml/2006/main">
  <p:tag name="KSO_WM_DIAGRAM_VIRTUALLY_FRAME" val="{&quot;height&quot;:313.2,&quot;left&quot;:576,&quot;top&quot;:79.2,&quot;width&quot;:32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4393</Words>
  <Application>WPS 演示</Application>
  <PresentationFormat>On-screen Show (4:3)</PresentationFormat>
  <Paragraphs>684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远望星辰</cp:lastModifiedBy>
  <cp:revision>9</cp:revision>
  <dcterms:created xsi:type="dcterms:W3CDTF">2013-01-27T09:14:00Z</dcterms:created>
  <dcterms:modified xsi:type="dcterms:W3CDTF">2026-05-06T08:03:00Z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715B24603CAF46748BF97332867A3941_12</vt:lpwstr>
  </property>
  <property fmtid="{D5CDD505-2E9C-101B-9397-08002B2CF9AE}" pid="3" name="KSOProductBuildVer">
    <vt:lpwstr>2052-12.1.0.25865</vt:lpwstr>
  </property>
</Properties>
</file>